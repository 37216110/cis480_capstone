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shaun Cobb" userId="57cdd0edb79a5a1c" providerId="LiveId" clId="{FDE78507-1B6D-49B9-B562-0F718DD01FA8}"/>
    <pc:docChg chg="modSld">
      <pc:chgData name="Keeshaun Cobb" userId="57cdd0edb79a5a1c" providerId="LiveId" clId="{FDE78507-1B6D-49B9-B562-0F718DD01FA8}" dt="2026-10-19T03:08:30.331" v="13" actId="1076"/>
      <pc:docMkLst>
        <pc:docMk/>
      </pc:docMkLst>
      <pc:sldChg chg="modSp mod">
        <pc:chgData name="Keeshaun Cobb" userId="57cdd0edb79a5a1c" providerId="LiveId" clId="{FDE78507-1B6D-49B9-B562-0F718DD01FA8}" dt="2026-10-19T03:07:31.796" v="4" actId="20577"/>
        <pc:sldMkLst>
          <pc:docMk/>
          <pc:sldMk cId="0" sldId="256"/>
        </pc:sldMkLst>
        <pc:spChg chg="mod">
          <ac:chgData name="Keeshaun Cobb" userId="57cdd0edb79a5a1c" providerId="LiveId" clId="{FDE78507-1B6D-49B9-B562-0F718DD01FA8}" dt="2026-10-19T03:07:31.796" v="4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Keeshaun Cobb" userId="57cdd0edb79a5a1c" providerId="LiveId" clId="{FDE78507-1B6D-49B9-B562-0F718DD01FA8}" dt="2026-10-19T03:07:50.732" v="6" actId="207"/>
        <pc:sldMkLst>
          <pc:docMk/>
          <pc:sldMk cId="0" sldId="260"/>
        </pc:sldMkLst>
        <pc:spChg chg="mod">
          <ac:chgData name="Keeshaun Cobb" userId="57cdd0edb79a5a1c" providerId="LiveId" clId="{FDE78507-1B6D-49B9-B562-0F718DD01FA8}" dt="2026-10-19T03:07:50.732" v="6" actId="207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Keeshaun Cobb" userId="57cdd0edb79a5a1c" providerId="LiveId" clId="{FDE78507-1B6D-49B9-B562-0F718DD01FA8}" dt="2026-10-19T03:08:21.138" v="10" actId="207"/>
        <pc:sldMkLst>
          <pc:docMk/>
          <pc:sldMk cId="0" sldId="261"/>
        </pc:sldMkLst>
        <pc:spChg chg="mod">
          <ac:chgData name="Keeshaun Cobb" userId="57cdd0edb79a5a1c" providerId="LiveId" clId="{FDE78507-1B6D-49B9-B562-0F718DD01FA8}" dt="2026-10-19T03:08:21.138" v="10" actId="207"/>
          <ac:spMkLst>
            <pc:docMk/>
            <pc:sldMk cId="0" sldId="261"/>
            <ac:spMk id="7" creationId="{00000000-0000-0000-0000-000000000000}"/>
          </ac:spMkLst>
        </pc:spChg>
      </pc:sldChg>
      <pc:sldChg chg="modSp mod">
        <pc:chgData name="Keeshaun Cobb" userId="57cdd0edb79a5a1c" providerId="LiveId" clId="{FDE78507-1B6D-49B9-B562-0F718DD01FA8}" dt="2026-10-19T03:08:18.155" v="9" actId="207"/>
        <pc:sldMkLst>
          <pc:docMk/>
          <pc:sldMk cId="0" sldId="262"/>
        </pc:sldMkLst>
        <pc:spChg chg="mod">
          <ac:chgData name="Keeshaun Cobb" userId="57cdd0edb79a5a1c" providerId="LiveId" clId="{FDE78507-1B6D-49B9-B562-0F718DD01FA8}" dt="2026-10-19T03:08:18.155" v="9" actId="207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Keeshaun Cobb" userId="57cdd0edb79a5a1c" providerId="LiveId" clId="{FDE78507-1B6D-49B9-B562-0F718DD01FA8}" dt="2026-10-19T03:08:30.331" v="13" actId="1076"/>
        <pc:sldMkLst>
          <pc:docMk/>
          <pc:sldMk cId="0" sldId="263"/>
        </pc:sldMkLst>
        <pc:spChg chg="mod">
          <ac:chgData name="Keeshaun Cobb" userId="57cdd0edb79a5a1c" providerId="LiveId" clId="{FDE78507-1B6D-49B9-B562-0F718DD01FA8}" dt="2026-10-19T03:08:30.331" v="13" actId="1076"/>
          <ac:spMkLst>
            <pc:docMk/>
            <pc:sldMk cId="0" sldId="263"/>
            <ac:spMk id="7" creationId="{00000000-0000-0000-0000-000000000000}"/>
          </ac:spMkLst>
        </pc:spChg>
        <pc:picChg chg="mod">
          <ac:chgData name="Keeshaun Cobb" userId="57cdd0edb79a5a1c" providerId="LiveId" clId="{FDE78507-1B6D-49B9-B562-0F718DD01FA8}" dt="2026-10-19T03:08:27.440" v="12" actId="1076"/>
          <ac:picMkLst>
            <pc:docMk/>
            <pc:sldMk cId="0" sldId="263"/>
            <ac:picMk id="6" creationId="{00000000-0000-0000-0000-000000000000}"/>
          </ac:picMkLst>
        </pc:picChg>
      </pc:sldChg>
      <pc:sldChg chg="modSp mod">
        <pc:chgData name="Keeshaun Cobb" userId="57cdd0edb79a5a1c" providerId="LiveId" clId="{FDE78507-1B6D-49B9-B562-0F718DD01FA8}" dt="2026-10-19T03:07:59.894" v="7" actId="207"/>
        <pc:sldMkLst>
          <pc:docMk/>
          <pc:sldMk cId="0" sldId="264"/>
        </pc:sldMkLst>
        <pc:spChg chg="mod">
          <ac:chgData name="Keeshaun Cobb" userId="57cdd0edb79a5a1c" providerId="LiveId" clId="{FDE78507-1B6D-49B9-B562-0F718DD01FA8}" dt="2026-10-19T03:07:59.894" v="7" actId="207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Keeshaun Cobb" userId="57cdd0edb79a5a1c" providerId="LiveId" clId="{FDE78507-1B6D-49B9-B562-0F718DD01FA8}" dt="2026-10-19T03:08:02.823" v="8" actId="207"/>
        <pc:sldMkLst>
          <pc:docMk/>
          <pc:sldMk cId="0" sldId="265"/>
        </pc:sldMkLst>
        <pc:spChg chg="mod">
          <ac:chgData name="Keeshaun Cobb" userId="57cdd0edb79a5a1c" providerId="LiveId" clId="{FDE78507-1B6D-49B9-B562-0F718DD01FA8}" dt="2026-10-19T03:08:02.823" v="8" actId="207"/>
          <ac:spMkLst>
            <pc:docMk/>
            <pc:sldMk cId="0" sldId="265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39A1DE"/>
                </a:solidFill>
                <a:latin typeface="Aptos"/>
              </a:defRPr>
            </a:pPr>
            <a:r>
              <a:t>CAPSTONE • TEAM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200" b="1">
                <a:solidFill>
                  <a:srgbClr val="F8FAFD"/>
                </a:solidFill>
                <a:latin typeface="Aptos"/>
              </a:defRPr>
            </a:pPr>
            <a:r>
              <a:t>Predictive Maintenance &amp; Machine Failure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881360" cy="22860"/>
          </a:xfrm>
          <a:prstGeom prst="rect">
            <a:avLst/>
          </a:prstGeom>
          <a:solidFill>
            <a:srgbClr val="39A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FCFE0"/>
                </a:solidFill>
                <a:latin typeface="Aptos"/>
              </a:defRPr>
            </a:pPr>
            <a:r>
              <a:t>CIS 480  |  AI4I Predictive Maintenance  |  October 18,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From operating measurements to validated failure-risk predictions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058400" cy="874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BFCFE0"/>
                </a:solidFill>
                <a:latin typeface="Aptos"/>
              </a:defRPr>
            </a:pPr>
            <a:r>
              <a:rPr dirty="0"/>
              <a:t>Keeshaun </a:t>
            </a:r>
            <a:r>
              <a:rPr lang="en-US" dirty="0"/>
              <a:t>Cobb </a:t>
            </a:r>
            <a:r>
              <a:rPr dirty="0"/>
              <a:t> •  Brett Harrison  •  Wynn Nguyen  •  Zach Lee</a:t>
            </a:r>
          </a:p>
          <a:p>
            <a:pPr>
              <a:spcAft>
                <a:spcPts val="1300"/>
              </a:spcAft>
              <a:defRPr sz="2000" b="0">
                <a:solidFill>
                  <a:srgbClr val="BFCFE0"/>
                </a:solidFill>
                <a:latin typeface="Aptos"/>
              </a:defRPr>
            </a:pPr>
            <a:r>
              <a:rPr dirty="0"/>
              <a:t>Working analytical prototype | Public synthetic AI4I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39A1DE"/>
                </a:solidFill>
                <a:latin typeface="Aptos"/>
              </a:defRPr>
            </a:pPr>
            <a:r>
              <a:t>M08 DEMO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200" b="1">
                <a:solidFill>
                  <a:srgbClr val="F8FAFD"/>
                </a:solidFill>
                <a:latin typeface="Aptos"/>
              </a:defRPr>
            </a:pPr>
            <a:r>
              <a:t>The decision: can measurements flag failures?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881360" cy="22860"/>
          </a:xfrm>
          <a:prstGeom prst="rect">
            <a:avLst/>
          </a:prstGeom>
          <a:solidFill>
            <a:srgbClr val="39A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FCFE0"/>
                </a:solidFill>
                <a:latin typeface="Aptos"/>
              </a:defRPr>
            </a:pPr>
            <a:r>
              <a:t>CIS 480  |  AI4I Predictive Maintenance  |  October 18,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F8FAFD"/>
                </a:solidFill>
                <a:latin typeface="Aptos"/>
              </a:defRPr>
            </a:pPr>
            <a:r>
              <a:t>STAKEHOLDER  •  Hypothetical maintenance manager</a:t>
            </a:r>
          </a:p>
          <a:p>
            <a:pPr>
              <a:spcAft>
                <a:spcPts val="1300"/>
              </a:spcAft>
              <a:defRPr sz="2200" b="0">
                <a:solidFill>
                  <a:srgbClr val="F8FAFD"/>
                </a:solidFill>
                <a:latin typeface="Aptos"/>
              </a:defRPr>
            </a:pPr>
            <a:r>
              <a:t>NEED  •  Identify failure-risk records without relying on overall accuracy alone</a:t>
            </a:r>
          </a:p>
          <a:p>
            <a:pPr>
              <a:spcAft>
                <a:spcPts val="1300"/>
              </a:spcAft>
              <a:defRPr sz="2200" b="0">
                <a:solidFill>
                  <a:srgbClr val="F8FAFD"/>
                </a:solidFill>
                <a:latin typeface="Aptos"/>
              </a:defRPr>
            </a:pPr>
            <a:r>
              <a:t>INPUT  •  Machine type, temperatures, rotational speed, torque, tool wear</a:t>
            </a:r>
          </a:p>
          <a:p>
            <a:pPr>
              <a:spcAft>
                <a:spcPts val="1300"/>
              </a:spcAft>
              <a:defRPr sz="2200" b="0">
                <a:solidFill>
                  <a:srgbClr val="F8FAFD"/>
                </a:solidFill>
                <a:latin typeface="Aptos"/>
              </a:defRPr>
            </a:pPr>
            <a:r>
              <a:t>OUTPUT  •  Failure predictions, comparative metrics, and model interpretation</a:t>
            </a:r>
          </a:p>
          <a:p>
            <a:pPr>
              <a:spcAft>
                <a:spcPts val="1300"/>
              </a:spcAft>
              <a:defRPr sz="2200" b="0">
                <a:solidFill>
                  <a:srgbClr val="F8FAFD"/>
                </a:solidFill>
                <a:latin typeface="Aptos"/>
              </a:defRPr>
            </a:pPr>
            <a:r>
              <a:t>BOUNDARY  •  Research prototype; no automatic maintenance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39A1DE"/>
                </a:solidFill>
                <a:latin typeface="Aptos"/>
              </a:defRPr>
            </a:pPr>
            <a:r>
              <a:t>M08 DEMO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200" b="1">
                <a:solidFill>
                  <a:srgbClr val="F8FAFD"/>
                </a:solidFill>
                <a:latin typeface="Aptos"/>
              </a:defRPr>
            </a:pPr>
            <a:r>
              <a:t>Research questions &amp; success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881360" cy="22860"/>
          </a:xfrm>
          <a:prstGeom prst="rect">
            <a:avLst/>
          </a:prstGeom>
          <a:solidFill>
            <a:srgbClr val="39A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FCFE0"/>
                </a:solidFill>
                <a:latin typeface="Aptos"/>
              </a:defRPr>
            </a:pPr>
            <a:r>
              <a:t>CIS 480  |  AI4I Predictive Maintenance  |  October 18,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607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r>
              <a:t>01   How do measurements differ between failure and non-failure records?</a:t>
            </a:r>
          </a:p>
          <a:p>
            <a:pPr>
              <a:spcAft>
                <a:spcPts val="13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r>
              <a:t>02   Which available measurements are most informative for the model?</a:t>
            </a:r>
          </a:p>
          <a:p>
            <a:pPr>
              <a:spcAft>
                <a:spcPts val="13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r>
              <a:t>03   Does classification detect failures better than a no-failure baseline?</a:t>
            </a:r>
          </a:p>
          <a:p>
            <a:pPr>
              <a:spcAft>
                <a:spcPts val="13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endParaRPr/>
          </a:p>
          <a:p>
            <a:pPr>
              <a:spcAft>
                <a:spcPts val="13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r>
              <a:t>ACCEPTANCE  •  Reproducible clean data; no IDs or failure flags as predictors; held-out evaluation; recall, precision, F1 and error counts reported.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39A1DE"/>
                </a:solidFill>
                <a:latin typeface="Aptos"/>
              </a:defRPr>
            </a:pPr>
            <a:r>
              <a:t>M08 DEMO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200" b="1">
                <a:solidFill>
                  <a:srgbClr val="F8FAFD"/>
                </a:solidFill>
                <a:latin typeface="Aptos"/>
              </a:defRPr>
            </a:pPr>
            <a:r>
              <a:t>The working MVP: reproducible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881360" cy="22860"/>
          </a:xfrm>
          <a:prstGeom prst="rect">
            <a:avLst/>
          </a:prstGeom>
          <a:solidFill>
            <a:srgbClr val="39A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FCFE0"/>
                </a:solidFill>
                <a:latin typeface="Aptos"/>
              </a:defRPr>
            </a:pPr>
            <a:r>
              <a:t>CIS 480  |  AI4I Predictive Maintenance  |  October 18,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r>
              <a:t>PUBLIC AI4I CSV  →  VALIDATE &amp; CLEAN  →  SELECT PREDICTORS</a:t>
            </a:r>
          </a:p>
          <a:p>
            <a:pPr>
              <a:spcAft>
                <a:spcPts val="13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r>
              <a:t>                                  ↓</a:t>
            </a:r>
          </a:p>
          <a:p>
            <a:pPr>
              <a:spcAft>
                <a:spcPts val="13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r>
              <a:t>STRATIFIED TRAIN / TEST SPLIT  →  MODEL FITTING</a:t>
            </a:r>
          </a:p>
          <a:p>
            <a:pPr>
              <a:spcAft>
                <a:spcPts val="13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r>
              <a:t>                                  ↓</a:t>
            </a:r>
          </a:p>
          <a:p>
            <a:pPr>
              <a:spcAft>
                <a:spcPts val="13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r>
              <a:t>BASELINE &amp; CLASSIFIER METRICS  →  INTERPRETATION</a:t>
            </a:r>
          </a:p>
          <a:p>
            <a:pPr>
              <a:spcAft>
                <a:spcPts val="13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endParaRPr/>
          </a:p>
          <a:p>
            <a:pPr>
              <a:spcAft>
                <a:spcPts val="13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r>
              <a:t>10,000 raw rows → 27 records excluded by documented consistency rule → 9,973 retained.</a:t>
            </a:r>
          </a:p>
          <a:p>
            <a:pPr>
              <a:spcAft>
                <a:spcPts val="1300"/>
              </a:spcAft>
              <a:defRPr sz="2000" b="0">
                <a:solidFill>
                  <a:srgbClr val="F8FAFD"/>
                </a:solidFill>
                <a:latin typeface="Aptos"/>
              </a:defRPr>
            </a:pPr>
            <a:r>
              <a:t>Identifiers and failure-mode flags are not model inputs.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39A1DE"/>
                </a:solidFill>
                <a:latin typeface="Aptos"/>
              </a:defRPr>
            </a:pPr>
            <a:r>
              <a:t>M08 DEMO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200" b="1">
                <a:solidFill>
                  <a:srgbClr val="F8FAFD"/>
                </a:solidFill>
                <a:latin typeface="Aptos"/>
              </a:defRPr>
            </a:pPr>
            <a:r>
              <a:t>Exploratory analysis: what to visualize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881360" cy="22860"/>
          </a:xfrm>
          <a:prstGeom prst="rect">
            <a:avLst/>
          </a:prstGeom>
          <a:solidFill>
            <a:srgbClr val="39A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FCFE0"/>
                </a:solidFill>
                <a:latin typeface="Aptos"/>
              </a:defRPr>
            </a:pPr>
            <a:r>
              <a:t>CIS 480  |  AI4I Predictive Maintenance  |  October 18,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103120"/>
            <a:ext cx="10515600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>
                <a:solidFill>
                  <a:schemeClr val="bg1"/>
                </a:solidFill>
                <a:latin typeface="Aptos"/>
              </a:rPr>
              <a:t>TABLEAU DRAFT — preliminary, not final validated output</a:t>
            </a:r>
          </a:p>
          <a:p>
            <a:endParaRPr sz="1700" dirty="0">
              <a:solidFill>
                <a:schemeClr val="bg1"/>
              </a:solidFill>
              <a:latin typeface="Aptos"/>
            </a:endParaRP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Zach’s workbook contains four exploratory worksheets:</a:t>
            </a: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• Air Temp Vs Process Temp</a:t>
            </a: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• Torque Vs Rotate Speed (Type H)</a:t>
            </a: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• Torque Vs Rotate Speed (Type L)</a:t>
            </a: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• Torque Vs Rotate Speed (Type M)</a:t>
            </a:r>
          </a:p>
          <a:p>
            <a:endParaRPr sz="1700" dirty="0">
              <a:solidFill>
                <a:schemeClr val="bg1"/>
              </a:solidFill>
              <a:latin typeface="Aptos"/>
            </a:endParaRP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These views explore relationships between operating measurements and machine type. They do NOT establish failure-rate differences or model accuracy. Workbook uses a temporary local .hyper connection; reconnect to the cleaned CSV before live demonstration.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39A1DE"/>
                </a:solidFill>
                <a:latin typeface="Aptos"/>
              </a:defRPr>
            </a:pPr>
            <a:r>
              <a:t>M08 DEMO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200" b="1">
                <a:solidFill>
                  <a:srgbClr val="F8FAFD"/>
                </a:solidFill>
                <a:latin typeface="Aptos"/>
              </a:defRPr>
            </a:pPr>
            <a:r>
              <a:t>Model performance: Logistic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881360" cy="22860"/>
          </a:xfrm>
          <a:prstGeom prst="rect">
            <a:avLst/>
          </a:prstGeom>
          <a:solidFill>
            <a:srgbClr val="39A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FCFE0"/>
                </a:solidFill>
                <a:latin typeface="Aptos"/>
              </a:defRPr>
            </a:pPr>
            <a:r>
              <a:t>CIS 480  |  AI4I Predictive Maintenance  |  October 18, 2026</a:t>
            </a:r>
          </a:p>
        </p:txBody>
      </p:sp>
      <p:pic>
        <p:nvPicPr>
          <p:cNvPr id="6" name="Picture 5" descr="cb8bb6f9-705a-4a96-a89f-cde3f17e51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965960"/>
            <a:ext cx="896112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870448"/>
            <a:ext cx="105156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>
                <a:solidFill>
                  <a:schemeClr val="bg1"/>
                </a:solidFill>
                <a:latin typeface="Aptos"/>
              </a:rPr>
              <a:t>Held-out test: 1,995 records / 66 failures. Accuracy 97.04%  •  Precision 73.33%  •  Recall 16.67%  •  F1 27.16%. Confusion matrix: TN 1,925 / FP 4 / FN 55 / TP 11. Default threshold: 0.50.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39A1DE"/>
                </a:solidFill>
                <a:latin typeface="Aptos"/>
              </a:defRPr>
            </a:pPr>
            <a:r>
              <a:t>M08 DEMO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200" b="1">
                <a:solidFill>
                  <a:srgbClr val="F8FAFD"/>
                </a:solidFill>
                <a:latin typeface="Aptos"/>
              </a:defRPr>
            </a:pPr>
            <a:r>
              <a:t>Model performance: Random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881360" cy="22860"/>
          </a:xfrm>
          <a:prstGeom prst="rect">
            <a:avLst/>
          </a:prstGeom>
          <a:solidFill>
            <a:srgbClr val="39A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FCFE0"/>
                </a:solidFill>
                <a:latin typeface="Aptos"/>
              </a:defRPr>
            </a:pPr>
            <a:r>
              <a:t>CIS 480  |  AI4I Predictive Maintenance  |  October 18, 2026</a:t>
            </a:r>
          </a:p>
        </p:txBody>
      </p:sp>
      <p:pic>
        <p:nvPicPr>
          <p:cNvPr id="6" name="Picture 5" descr="9f4bded4-ff83-4ad0-945f-63699037df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965960"/>
            <a:ext cx="896112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870448"/>
            <a:ext cx="105156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>
                <a:solidFill>
                  <a:schemeClr val="bg1"/>
                </a:solidFill>
                <a:latin typeface="Aptos"/>
              </a:rPr>
              <a:t>Held-out test: 1,995 records / 66 failures. Accuracy 97.89%  •  Precision 65.00%  •  Recall 78.79%  •  F1 71.23%. Confusion matrix: TN 1,901 / FP 28 / FN 14 / TP 52. Default threshold: 0.50.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39A1DE"/>
                </a:solidFill>
                <a:latin typeface="Aptos"/>
              </a:defRPr>
            </a:pPr>
            <a:r>
              <a:t>M08 DEMO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200" b="1">
                <a:solidFill>
                  <a:srgbClr val="F8FAFD"/>
                </a:solidFill>
                <a:latin typeface="Aptos"/>
              </a:defRPr>
            </a:pPr>
            <a:r>
              <a:t>Which features matter to Random Forest?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881360" cy="22860"/>
          </a:xfrm>
          <a:prstGeom prst="rect">
            <a:avLst/>
          </a:prstGeom>
          <a:solidFill>
            <a:srgbClr val="39A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FCFE0"/>
                </a:solidFill>
                <a:latin typeface="Aptos"/>
              </a:defRPr>
            </a:pPr>
            <a:r>
              <a:t>CIS 480  |  AI4I Predictive Maintenance  |  October 18, 2026</a:t>
            </a:r>
          </a:p>
        </p:txBody>
      </p:sp>
      <p:pic>
        <p:nvPicPr>
          <p:cNvPr id="6" name="Picture 5" descr="4f2323f0-b216-4fd7-a3aa-495dfc0e31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95094"/>
            <a:ext cx="896112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733949"/>
            <a:ext cx="105156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>
                <a:solidFill>
                  <a:schemeClr val="bg1"/>
                </a:solidFill>
                <a:latin typeface="Aptos"/>
              </a:rPr>
              <a:t>Permutation importance (average-precision scoring): rotational speed 0.4496; torque 0.4386; air temperature 0.3175; tool wear 0.2597; process temperature 0.1820; machine type 0.0448. Predictive association ≠ causation.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39A1DE"/>
                </a:solidFill>
                <a:latin typeface="Aptos"/>
              </a:defRPr>
            </a:pPr>
            <a:r>
              <a:t>M08 DEMO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200" b="1">
                <a:solidFill>
                  <a:srgbClr val="F8FAFD"/>
                </a:solidFill>
                <a:latin typeface="Aptos"/>
              </a:defRPr>
            </a:pPr>
            <a:r>
              <a:t>What the evidence supports — and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881360" cy="22860"/>
          </a:xfrm>
          <a:prstGeom prst="rect">
            <a:avLst/>
          </a:prstGeom>
          <a:solidFill>
            <a:srgbClr val="39A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FCFE0"/>
                </a:solidFill>
                <a:latin typeface="Aptos"/>
              </a:defRPr>
            </a:pPr>
            <a:r>
              <a:t>CIS 480  |  AI4I Predictive Maintenance  |  October 18,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60704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>
                <a:solidFill>
                  <a:schemeClr val="bg1"/>
                </a:solidFill>
                <a:latin typeface="Aptos"/>
              </a:rPr>
              <a:t>SUPPORTED  •  On one held-out stratified split, Random Forest detects 52/66 failures; Logistic Regression detects 11/66. RF makes 28 false alarms vs. 4 for LR. Both use six permitted operating predictors.</a:t>
            </a:r>
          </a:p>
          <a:p>
            <a:endParaRPr sz="1700" dirty="0">
              <a:solidFill>
                <a:schemeClr val="bg1"/>
              </a:solidFill>
              <a:latin typeface="Aptos"/>
            </a:endParaRP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NOT ESTABLISHED  •  Real-machine generalization, advance warning time, operational cost-effectiveness, causal drivers, or live Tableau reproducibility. The Tableau workbook is preliminary and points to a temporary local data connection.</a:t>
            </a:r>
          </a:p>
          <a:p>
            <a:endParaRPr sz="1700" dirty="0">
              <a:solidFill>
                <a:schemeClr val="bg1"/>
              </a:solidFill>
              <a:latin typeface="Aptos"/>
            </a:endParaRP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NEXT CHECK  •  Reconnect Tableau to cleaned data; independently rerun notebooks; tune decision threshold on validation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300" b="1">
                <a:solidFill>
                  <a:srgbClr val="39A1DE"/>
                </a:solidFill>
                <a:latin typeface="Aptos"/>
              </a:defRPr>
            </a:pPr>
            <a:r>
              <a:t>M08 DEMO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200" b="1">
                <a:solidFill>
                  <a:srgbClr val="F8FAFD"/>
                </a:solidFill>
                <a:latin typeface="Aptos"/>
              </a:defRPr>
            </a:pPr>
            <a:r>
              <a:t>Handoff, team ownership &amp; next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881360" cy="22860"/>
          </a:xfrm>
          <a:prstGeom prst="rect">
            <a:avLst/>
          </a:prstGeom>
          <a:solidFill>
            <a:srgbClr val="39A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BFCFE0"/>
                </a:solidFill>
                <a:latin typeface="Aptos"/>
              </a:defRPr>
            </a:pPr>
            <a:r>
              <a:t>CIS 480  |  AI4I Predictive Maintenance  |  October 18,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dirty="0">
                <a:solidFill>
                  <a:schemeClr val="bg1"/>
                </a:solidFill>
                <a:latin typeface="Aptos"/>
              </a:rPr>
              <a:t>KEESHAUN  •  Presentation, outline, evidence integration and submission coordination</a:t>
            </a: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BRETT  •  Cleaning utilities, Logistic Regression and Random Forest notebooks, model outputs</a:t>
            </a: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WYNN  •  Model interpretation, stakeholder implications and limitations</a:t>
            </a: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ZACH  •  Preliminary Tableau workbook (four exploratory worksheets)</a:t>
            </a:r>
          </a:p>
          <a:p>
            <a:endParaRPr sz="1700" dirty="0">
              <a:solidFill>
                <a:schemeClr val="bg1"/>
              </a:solidFill>
              <a:latin typeface="Aptos"/>
            </a:endParaRP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RECOMMENDATION  •  Advance Random Forest as the research prototype, not a production alert system.</a:t>
            </a: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HANDOFF  •  Verify repository run instructions, reconnect Tableau, record test evidence and request team review.</a:t>
            </a:r>
          </a:p>
          <a:p>
            <a:r>
              <a:rPr sz="1700" dirty="0">
                <a:solidFill>
                  <a:schemeClr val="bg1"/>
                </a:solidFill>
                <a:latin typeface="Aptos"/>
              </a:rPr>
              <a:t>EVIDENCE  •  https://github.com/37216110/cis480_capstone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785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Keeshaun Cobb</cp:lastModifiedBy>
  <cp:revision>1</cp:revision>
  <dcterms:created xsi:type="dcterms:W3CDTF">2013-01-27T09:14:16Z</dcterms:created>
  <dcterms:modified xsi:type="dcterms:W3CDTF">2026-10-19T03:08:47Z</dcterms:modified>
  <cp:category/>
</cp:coreProperties>
</file>